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782B"/>
          </a:solidFill>
          <a:ln w="12700">
            <a:solidFill>
              <a:srgbClr val="C978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C97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01 / RATES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One-factor Hull–White: a transparent rates engine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521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566E"/>
                </a:solidFill>
              </a:rPr>
              <a:t>One calibrated interest-rate factor turns observable curve and volatility inputs into pricing and risk for vanilla and callable rates products.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17190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6A9F"/>
                </a:solidFill>
              </a:rPr>
              <a:t>MARKET-DATA CONTRACT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76072" y="2039112"/>
            <a:ext cx="2615184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105863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OIS curves: SOFR / €STR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6072" y="2423160"/>
            <a:ext cx="2615184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489911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Swaption surface: expiry × tenor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" y="2807208"/>
            <a:ext cx="2615184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873959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ATM normal volatilities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" y="3191256"/>
            <a:ext cx="2615184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258007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Smile: strike or delta vol points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2560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8566E"/>
                </a:solidFill>
              </a:rPr>
              <a:t>Curve instruments anchor discounting and forwards. Volatility quotes calibrate optionality; the smile layer is available when the desk requires strike-aware pricing.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85616" y="1773936"/>
            <a:ext cx="4279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5616" y="1773936"/>
            <a:ext cx="82296" cy="80467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194767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9F"/>
                </a:solidFill>
              </a:rPr>
              <a:t>CURVE 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6784" y="2258568"/>
            <a:ext cx="3877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P(0,T) from OIS instruments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85616" y="2880360"/>
            <a:ext cx="4279392" cy="1188720"/>
          </a:xfrm>
          <a:prstGeom prst="roundRect">
            <a:avLst>
              <a:gd name="adj" fmla="val 4615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305409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HULL–WHITE 1F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86784" y="3364992"/>
            <a:ext cx="38770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rₜ = φ(t) + xₜ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dxₜ = −a xₜ dt + σ(t) dWₜ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85616" y="4370832"/>
            <a:ext cx="4279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4370832"/>
            <a:ext cx="82296" cy="804672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86784" y="454456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VOLATILITY 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6784" y="4855464"/>
            <a:ext cx="38770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ATM surface, with smile extension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25312" y="2587752"/>
            <a:ext cx="0" cy="27432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25312" y="4361688"/>
            <a:ext cx="0" cy="-274320"/>
          </a:xfrm>
          <a:prstGeom prst="line">
            <a:avLst/>
          </a:prstGeom>
          <a:noFill/>
          <a:ln w="22860">
            <a:solidFill>
              <a:srgbClr val="1F7A5A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77072" y="17190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5A"/>
                </a:solidFill>
              </a:rPr>
              <a:t>TRADING-SYSTEM 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77072" y="2029968"/>
            <a:ext cx="2944368" cy="841248"/>
          </a:xfrm>
          <a:prstGeom prst="roundRect">
            <a:avLst>
              <a:gd name="adj" fmla="val 6522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2037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2514600"/>
            <a:ext cx="2542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Swaps, European swaptions, Bermudan options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77072" y="3108960"/>
            <a:ext cx="2944368" cy="841248"/>
          </a:xfrm>
          <a:prstGeom prst="roundRect">
            <a:avLst>
              <a:gd name="adj" fmla="val 6522"/>
            </a:avLst>
          </a:prstGeom>
          <a:solidFill>
            <a:srgbClr val="2D6A9F"/>
          </a:solidFill>
          <a:ln w="10160">
            <a:solidFill>
              <a:srgbClr val="2D6A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32826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0" y="3593592"/>
            <a:ext cx="2542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Curve DV01, volatility vega, scenario comparisons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77072" y="4187952"/>
            <a:ext cx="2944368" cy="841248"/>
          </a:xfrm>
          <a:prstGeom prst="roundRect">
            <a:avLst>
              <a:gd name="adj" fmla="val 6522"/>
            </a:avLst>
          </a:prstGeom>
          <a:solidFill>
            <a:srgbClr val="1F7A5A"/>
          </a:solidFill>
          <a:ln w="10160">
            <a:solidFill>
              <a:srgbClr val="1F7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3616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0" y="4672584"/>
            <a:ext cx="2542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Visible calibration and reproducible market snapshot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0352" y="5623560"/>
            <a:ext cx="11009376" cy="493776"/>
          </a:xfrm>
          <a:prstGeom prst="roundRect">
            <a:avLst>
              <a:gd name="adj" fmla="val 925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576986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COMMERCIAL MESSAGE  |  A fast, auditable rates core that moves a desk from market quotes to a defensible price and risk view.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2064" y="6437376"/>
            <a:ext cx="11155680" cy="0"/>
          </a:xfrm>
          <a:prstGeom prst="line">
            <a:avLst/>
          </a:prstGeom>
          <a:noFill/>
          <a:ln w="7620">
            <a:solidFill>
              <a:srgbClr val="B9C9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651967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5" kern="0" dirty="0">
                <a:solidFill>
                  <a:srgbClr val="38566E"/>
                </a:solidFill>
              </a:rPr>
              <a:t>TG INVESTMENTS AND RESEARCH, LLC  |  CONFIDENTIAL DISCUSSION DRAFT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192256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566E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782B"/>
          </a:solidFill>
          <a:ln w="12700">
            <a:solidFill>
              <a:srgbClr val="C978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C978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02 / STRUCTURED MULTI-CURRENCY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Three-factor callable XCCY: two rate engines plus FX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5214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566E"/>
                </a:solidFill>
              </a:rPr>
              <a:t>A connected USD–EUR–FX state model adds cross-currency cash flows and callable decisioning while retaining observable market-data inputs and explicit controls.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23042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19072"/>
            <a:ext cx="82296" cy="111556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892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9F"/>
                </a:solidFill>
              </a:rPr>
              <a:t>USD RATES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203704"/>
            <a:ext cx="19019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SOFR curve + swaption vols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Hull–White 1F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719072"/>
            <a:ext cx="23042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719072"/>
            <a:ext cx="82296" cy="1115568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892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A"/>
                </a:solidFill>
              </a:rPr>
              <a:t>EUR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9856" y="2203704"/>
            <a:ext cx="19019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€STR curve + swaption vols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Hull–White 1F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0448" y="1719072"/>
            <a:ext cx="23042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719072"/>
            <a:ext cx="82296" cy="1115568"/>
          </a:xfrm>
          <a:prstGeom prst="rect">
            <a:avLst/>
          </a:prstGeom>
          <a:solidFill>
            <a:srgbClr val="C9782B"/>
          </a:solidFill>
          <a:ln w="12700">
            <a:solidFill>
              <a:srgbClr val="C978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892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82B"/>
                </a:solidFill>
              </a:rPr>
              <a:t>EUR/USD FX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71616" y="2203704"/>
            <a:ext cx="19019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Spot, forwards, FX vols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2212F"/>
                </a:solidFill>
              </a:rPr>
              <a:t>Smile-aware input layer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35024" y="3364992"/>
            <a:ext cx="6099048" cy="109728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6192" y="3538728"/>
            <a:ext cx="5715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THREE-FACTOR CORRELATED MARKET STATE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36192" y="3849624"/>
            <a:ext cx="56967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ρUSD,EUR  ·  ρUSD,FX  ·  ρEUR,FX connect rate and FX shocks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Domestic-measure simulation with deterministic / calibrated volatility terms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19072" y="2843784"/>
            <a:ext cx="1024128" cy="493776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70832" y="2843784"/>
            <a:ext cx="0" cy="493776"/>
          </a:xfrm>
          <a:prstGeom prst="line">
            <a:avLst/>
          </a:prstGeom>
          <a:noFill/>
          <a:ln w="22860">
            <a:solidFill>
              <a:srgbClr val="1F7A5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22592" y="2843784"/>
            <a:ext cx="-1005840" cy="493776"/>
          </a:xfrm>
          <a:prstGeom prst="line">
            <a:avLst/>
          </a:prstGeom>
          <a:noFill/>
          <a:ln w="22860">
            <a:solidFill>
              <a:srgbClr val="C9782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35024" y="4818888"/>
            <a:ext cx="609904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B9C9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35024" y="4818888"/>
            <a:ext cx="82296" cy="694944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4992624"/>
            <a:ext cx="5715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CALLABLE XCCY TRADE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36192" y="5303520"/>
            <a:ext cx="569671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2212F"/>
                </a:solidFill>
              </a:rPr>
              <a:t>Cross-currency cash flows → USD value → cancellation decision → NPV and risk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4471416"/>
            <a:ext cx="0" cy="320040"/>
          </a:xfrm>
          <a:prstGeom prst="line">
            <a:avLst/>
          </a:prstGeom>
          <a:noFill/>
          <a:ln w="22860">
            <a:solidFill>
              <a:srgbClr val="17324D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68512" y="1719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6A9F"/>
                </a:solidFill>
              </a:rPr>
              <a:t>MARKET-DATA CONTRACT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68512" y="2039112"/>
            <a:ext cx="2807208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2105863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USD + EUR OIS curves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68512" y="2404872"/>
            <a:ext cx="2807208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2471623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USD + EUR swaption surfaces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68512" y="2770632"/>
            <a:ext cx="2807208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59952" y="2837383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FX spot + forward curve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68512" y="3136392"/>
            <a:ext cx="2807208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3203143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FX smile: strikes / deltas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668512" y="3502152"/>
            <a:ext cx="2807208" cy="301752"/>
          </a:xfrm>
          <a:prstGeom prst="roundRect">
            <a:avLst>
              <a:gd name="adj" fmla="val 1212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3568903"/>
            <a:ext cx="2624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Rate–rate–FX correlations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668512" y="4160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5A"/>
                </a:solidFill>
              </a:rPr>
              <a:t>TRADING-SYSTEM VALUE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68512" y="4471416"/>
            <a:ext cx="2807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8566E"/>
                </a:solidFill>
              </a:rPr>
              <a:t>One consistent framework to benchmark callable cross-currency economics and expose the market inputs, exercise behavior, and directional risk a desk needs for a live deal.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530352" y="5623560"/>
            <a:ext cx="11009376" cy="493776"/>
          </a:xfrm>
          <a:prstGeom prst="roundRect">
            <a:avLst>
              <a:gd name="adj" fmla="val 925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769864"/>
            <a:ext cx="10661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COMMERCIAL MESSAGE  |  A practical bridge from a proven rates engine to structured multi-currency optionality—transparent enough to challenge, flexible enough to extend.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12064" y="6437376"/>
            <a:ext cx="11155680" cy="0"/>
          </a:xfrm>
          <a:prstGeom prst="line">
            <a:avLst/>
          </a:prstGeom>
          <a:noFill/>
          <a:ln w="7620">
            <a:solidFill>
              <a:srgbClr val="B9C9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651967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5" kern="0" dirty="0">
                <a:solidFill>
                  <a:srgbClr val="38566E"/>
                </a:solidFill>
              </a:rPr>
              <a:t>TG INVESTMENTS AND RESEARCH, LLC  |  CONFIDENTIAL DISCUSSION DRAFT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192256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566E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TG Investments and Research,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TGIR Model Overview</dc:title>
  <dc:subject>High-level model overview for a trading-system presentation</dc:subject>
  <dc:creator>TG Investments and Research, LLC</dc:creator>
  <cp:lastModifiedBy>TG Investments and Research, LLC</cp:lastModifiedBy>
  <cp:revision>1</cp:revision>
  <dcterms:created xsi:type="dcterms:W3CDTF">2026-09-06T10:52:46Z</dcterms:created>
  <dcterms:modified xsi:type="dcterms:W3CDTF">2026-09-06T10:52:46Z</dcterms:modified>
</cp:coreProperties>
</file>